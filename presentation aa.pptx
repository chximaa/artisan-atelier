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979"/>
    <a:srgbClr val="EDE0CD"/>
    <a:srgbClr val="F7EFE2"/>
    <a:srgbClr val="FFFAF4"/>
    <a:srgbClr val="381C0E"/>
    <a:srgbClr val="B09F89"/>
    <a:srgbClr val="3A200F"/>
    <a:srgbClr val="8D7B68"/>
    <a:srgbClr val="2C1A0E"/>
    <a:srgbClr val="C8B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57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35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8A42D9E-8587-4A6D-9346-0A35E26E6946}"/>
              </a:ext>
            </a:extLst>
          </p:cNvPr>
          <p:cNvSpPr/>
          <p:nvPr/>
        </p:nvSpPr>
        <p:spPr>
          <a:xfrm>
            <a:off x="8502649" y="2139950"/>
            <a:ext cx="396875" cy="933450"/>
          </a:xfrm>
          <a:prstGeom prst="rect">
            <a:avLst/>
          </a:prstGeom>
          <a:solidFill>
            <a:srgbClr val="3A2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1DC0F531-EA65-4C59-A5ED-4F4E4003624F}"/>
              </a:ext>
            </a:extLst>
          </p:cNvPr>
          <p:cNvSpPr/>
          <p:nvPr/>
        </p:nvSpPr>
        <p:spPr>
          <a:xfrm>
            <a:off x="8245475" y="2952750"/>
            <a:ext cx="584200" cy="196850"/>
          </a:xfrm>
          <a:prstGeom prst="ellipse">
            <a:avLst/>
          </a:prstGeom>
          <a:solidFill>
            <a:srgbClr val="3A2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A6340A0-D52F-43C1-970A-82CFA819CAA8}"/>
              </a:ext>
            </a:extLst>
          </p:cNvPr>
          <p:cNvSpPr/>
          <p:nvPr/>
        </p:nvSpPr>
        <p:spPr>
          <a:xfrm>
            <a:off x="8616950" y="3149600"/>
            <a:ext cx="327025" cy="247650"/>
          </a:xfrm>
          <a:prstGeom prst="ellipse">
            <a:avLst/>
          </a:prstGeom>
          <a:solidFill>
            <a:srgbClr val="2C1A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DB2F61E-498E-4BD3-BD20-0E6B940FF56D}"/>
              </a:ext>
            </a:extLst>
          </p:cNvPr>
          <p:cNvSpPr txBox="1"/>
          <p:nvPr/>
        </p:nvSpPr>
        <p:spPr>
          <a:xfrm>
            <a:off x="625567" y="3469235"/>
            <a:ext cx="52273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 err="1">
                <a:solidFill>
                  <a:srgbClr val="C8B395"/>
                </a:solidFill>
              </a:rPr>
              <a:t>Projet</a:t>
            </a:r>
            <a:r>
              <a:rPr lang="en-CA" sz="1100" dirty="0">
                <a:solidFill>
                  <a:srgbClr val="C8B395"/>
                </a:solidFill>
              </a:rPr>
              <a:t> fait par:                                                          </a:t>
            </a:r>
            <a:r>
              <a:rPr lang="en-CA" sz="1100" dirty="0" err="1">
                <a:solidFill>
                  <a:srgbClr val="C8B395"/>
                </a:solidFill>
              </a:rPr>
              <a:t>Encadre</a:t>
            </a:r>
            <a:r>
              <a:rPr lang="en-CA" sz="1100" dirty="0">
                <a:solidFill>
                  <a:srgbClr val="C8B395"/>
                </a:solidFill>
              </a:rPr>
              <a:t> par :</a:t>
            </a:r>
          </a:p>
          <a:p>
            <a:r>
              <a:rPr lang="en-CA" sz="1100" dirty="0">
                <a:solidFill>
                  <a:srgbClr val="C8B395"/>
                </a:solidFill>
              </a:rPr>
              <a:t>Walid Ait Sidi Ahmed                                               Prof. Omar </a:t>
            </a:r>
            <a:r>
              <a:rPr lang="en-CA" sz="1100" dirty="0" err="1">
                <a:solidFill>
                  <a:srgbClr val="C8B395"/>
                </a:solidFill>
              </a:rPr>
              <a:t>Zahour</a:t>
            </a:r>
            <a:endParaRPr lang="en-CA" sz="1100" dirty="0">
              <a:solidFill>
                <a:srgbClr val="C8B395"/>
              </a:solidFill>
            </a:endParaRPr>
          </a:p>
          <a:p>
            <a:r>
              <a:rPr lang="en-CA" sz="1100" dirty="0">
                <a:solidFill>
                  <a:srgbClr val="C8B395"/>
                </a:solidFill>
              </a:rPr>
              <a:t>Chaimaa EL MEHDAOUI</a:t>
            </a:r>
            <a:endParaRPr lang="fr-FR" sz="1050" dirty="0">
              <a:solidFill>
                <a:srgbClr val="C8B395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86769F-4F27-44A7-9CF6-9330CA9BC7B6}"/>
              </a:ext>
            </a:extLst>
          </p:cNvPr>
          <p:cNvSpPr txBox="1"/>
          <p:nvPr/>
        </p:nvSpPr>
        <p:spPr>
          <a:xfrm rot="5400000">
            <a:off x="8127996" y="3341333"/>
            <a:ext cx="15054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>
                <a:solidFill>
                  <a:srgbClr val="F7EFE2"/>
                </a:solidFill>
              </a:rPr>
              <a:t>2025 - 2026</a:t>
            </a:r>
            <a:endParaRPr lang="fr-FR" sz="1100" dirty="0">
              <a:solidFill>
                <a:srgbClr val="F7EFE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0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441467-B4C2-4780-BE5F-1F9982B818F2}"/>
              </a:ext>
            </a:extLst>
          </p:cNvPr>
          <p:cNvSpPr/>
          <p:nvPr/>
        </p:nvSpPr>
        <p:spPr>
          <a:xfrm>
            <a:off x="8512629" y="137886"/>
            <a:ext cx="631371" cy="5080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489DD4-5742-4F94-8040-C6CB6C07FB37}"/>
              </a:ext>
            </a:extLst>
          </p:cNvPr>
          <p:cNvSpPr/>
          <p:nvPr/>
        </p:nvSpPr>
        <p:spPr>
          <a:xfrm>
            <a:off x="326571" y="4158343"/>
            <a:ext cx="8527143" cy="732971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0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A2FB70D-42CE-4CF1-A4D7-91227C5C7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22" y="1599336"/>
            <a:ext cx="412906" cy="41533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3F9D5CE-AF51-4D44-819D-AD5026E83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33" y="2985076"/>
            <a:ext cx="461484" cy="40804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7FCAB8B-A5F1-497A-8B31-06F8CF4B7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114" y="1587192"/>
            <a:ext cx="442053" cy="43962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156D20E-33F7-4DAA-8BB3-E6EDF40196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063" y="2987852"/>
            <a:ext cx="456626" cy="41533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20BB48C-FEF1-41C0-9161-84E89C72D7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6319" y="2963562"/>
            <a:ext cx="490630" cy="463913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71E4428A-59B0-40DD-9354-B875EB4751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6319" y="1622296"/>
            <a:ext cx="442053" cy="4045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9067095-0E4C-41C5-A364-4AFDB55DA6FF}"/>
              </a:ext>
            </a:extLst>
          </p:cNvPr>
          <p:cNvSpPr/>
          <p:nvPr/>
        </p:nvSpPr>
        <p:spPr>
          <a:xfrm>
            <a:off x="8512629" y="137886"/>
            <a:ext cx="631371" cy="5080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D13385A-D41D-48B9-8D63-D593F75BC49F}"/>
              </a:ext>
            </a:extLst>
          </p:cNvPr>
          <p:cNvSpPr txBox="1"/>
          <p:nvPr/>
        </p:nvSpPr>
        <p:spPr>
          <a:xfrm>
            <a:off x="820057" y="1836057"/>
            <a:ext cx="6509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  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F62C3-9D4B-4437-9648-A79564017C58}"/>
              </a:ext>
            </a:extLst>
          </p:cNvPr>
          <p:cNvSpPr/>
          <p:nvPr/>
        </p:nvSpPr>
        <p:spPr>
          <a:xfrm>
            <a:off x="319314" y="3701143"/>
            <a:ext cx="8657772" cy="551543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47FDF32-4385-4C08-B1FF-76493BF867AD}"/>
              </a:ext>
            </a:extLst>
          </p:cNvPr>
          <p:cNvSpPr txBox="1"/>
          <p:nvPr/>
        </p:nvSpPr>
        <p:spPr>
          <a:xfrm>
            <a:off x="696685" y="3792248"/>
            <a:ext cx="8882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 err="1">
                <a:solidFill>
                  <a:srgbClr val="8D7B68"/>
                </a:solidFill>
              </a:rPr>
              <a:t>Creer</a:t>
            </a:r>
            <a:r>
              <a:rPr lang="en-CA" sz="900" dirty="0">
                <a:solidFill>
                  <a:srgbClr val="8D7B68"/>
                </a:solidFill>
              </a:rPr>
              <a:t> son </a:t>
            </a:r>
            <a:r>
              <a:rPr lang="en-CA" sz="900" dirty="0" err="1">
                <a:solidFill>
                  <a:srgbClr val="8D7B68"/>
                </a:solidFill>
              </a:rPr>
              <a:t>compte</a:t>
            </a:r>
            <a:r>
              <a:rPr lang="en-CA" sz="900" dirty="0">
                <a:solidFill>
                  <a:srgbClr val="8D7B68"/>
                </a:solidFill>
              </a:rPr>
              <a:t>                 </a:t>
            </a:r>
            <a:r>
              <a:rPr lang="en-CA" sz="900" dirty="0" err="1">
                <a:solidFill>
                  <a:srgbClr val="8D7B68"/>
                </a:solidFill>
              </a:rPr>
              <a:t>Parcourir</a:t>
            </a:r>
            <a:r>
              <a:rPr lang="en-CA" sz="900" dirty="0">
                <a:solidFill>
                  <a:srgbClr val="8D7B68"/>
                </a:solidFill>
              </a:rPr>
              <a:t> le catalog,               </a:t>
            </a:r>
            <a:r>
              <a:rPr lang="en-CA" sz="900" dirty="0" err="1">
                <a:solidFill>
                  <a:srgbClr val="8D7B68"/>
                </a:solidFill>
              </a:rPr>
              <a:t>Afficher</a:t>
            </a:r>
            <a:r>
              <a:rPr lang="en-CA" sz="900" dirty="0">
                <a:solidFill>
                  <a:srgbClr val="8D7B68"/>
                </a:solidFill>
              </a:rPr>
              <a:t> </a:t>
            </a:r>
            <a:r>
              <a:rPr lang="en-CA" sz="900" dirty="0" err="1">
                <a:solidFill>
                  <a:srgbClr val="8D7B68"/>
                </a:solidFill>
              </a:rPr>
              <a:t>produit,stock</a:t>
            </a:r>
            <a:r>
              <a:rPr lang="en-CA" sz="900" dirty="0">
                <a:solidFill>
                  <a:srgbClr val="8D7B68"/>
                </a:solidFill>
              </a:rPr>
              <a:t>                </a:t>
            </a:r>
            <a:r>
              <a:rPr lang="en-CA" sz="900" dirty="0" err="1">
                <a:solidFill>
                  <a:srgbClr val="8D7B68"/>
                </a:solidFill>
              </a:rPr>
              <a:t>Ajouter</a:t>
            </a:r>
            <a:r>
              <a:rPr lang="en-CA" sz="900" dirty="0">
                <a:solidFill>
                  <a:srgbClr val="8D7B68"/>
                </a:solidFill>
              </a:rPr>
              <a:t> des articles , adjuster      </a:t>
            </a:r>
            <a:r>
              <a:rPr lang="en-CA" sz="900" dirty="0" err="1">
                <a:solidFill>
                  <a:srgbClr val="8D7B68"/>
                </a:solidFill>
              </a:rPr>
              <a:t>Valider</a:t>
            </a:r>
            <a:r>
              <a:rPr lang="en-CA" sz="900" dirty="0">
                <a:solidFill>
                  <a:srgbClr val="8D7B68"/>
                </a:solidFill>
              </a:rPr>
              <a:t>- stock </a:t>
            </a:r>
            <a:r>
              <a:rPr lang="en-CA" sz="900" dirty="0" err="1">
                <a:solidFill>
                  <a:srgbClr val="8D7B68"/>
                </a:solidFill>
              </a:rPr>
              <a:t>reserver</a:t>
            </a:r>
            <a:r>
              <a:rPr lang="en-CA" sz="900" dirty="0">
                <a:solidFill>
                  <a:srgbClr val="8D7B68"/>
                </a:solidFill>
              </a:rPr>
              <a:t>,         </a:t>
            </a:r>
            <a:r>
              <a:rPr lang="en-CA" sz="900" dirty="0" err="1">
                <a:solidFill>
                  <a:srgbClr val="8D7B68"/>
                </a:solidFill>
              </a:rPr>
              <a:t>Historique</a:t>
            </a:r>
            <a:r>
              <a:rPr lang="en-CA" sz="900" dirty="0">
                <a:solidFill>
                  <a:srgbClr val="8D7B68"/>
                </a:solidFill>
              </a:rPr>
              <a:t> &amp; status </a:t>
            </a:r>
            <a:r>
              <a:rPr lang="en-CA" sz="900" dirty="0" err="1">
                <a:solidFill>
                  <a:srgbClr val="8D7B68"/>
                </a:solidFill>
              </a:rPr>
              <a:t>en</a:t>
            </a:r>
            <a:endParaRPr lang="en-CA" sz="900" dirty="0">
              <a:solidFill>
                <a:srgbClr val="8D7B68"/>
              </a:solidFill>
            </a:endParaRPr>
          </a:p>
          <a:p>
            <a:r>
              <a:rPr lang="en-CA" sz="900" dirty="0" err="1">
                <a:solidFill>
                  <a:srgbClr val="8D7B68"/>
                </a:solidFill>
              </a:rPr>
              <a:t>en</a:t>
            </a:r>
            <a:r>
              <a:rPr lang="en-CA" sz="900" dirty="0">
                <a:solidFill>
                  <a:srgbClr val="8D7B68"/>
                </a:solidFill>
              </a:rPr>
              <a:t> </a:t>
            </a:r>
            <a:r>
              <a:rPr lang="en-CA" sz="900" dirty="0" err="1">
                <a:solidFill>
                  <a:srgbClr val="8D7B68"/>
                </a:solidFill>
              </a:rPr>
              <a:t>quelque</a:t>
            </a:r>
            <a:r>
              <a:rPr lang="en-CA" sz="900" dirty="0">
                <a:solidFill>
                  <a:srgbClr val="8D7B68"/>
                </a:solidFill>
              </a:rPr>
              <a:t> seconds                </a:t>
            </a:r>
            <a:r>
              <a:rPr lang="en-CA" sz="900" dirty="0" err="1">
                <a:solidFill>
                  <a:srgbClr val="8D7B68"/>
                </a:solidFill>
              </a:rPr>
              <a:t>chercher,filtrer</a:t>
            </a:r>
            <a:r>
              <a:rPr lang="en-CA" sz="900" dirty="0">
                <a:solidFill>
                  <a:srgbClr val="8D7B68"/>
                </a:solidFill>
              </a:rPr>
              <a:t>                          disponible, </a:t>
            </a:r>
            <a:r>
              <a:rPr lang="en-CA" sz="900" dirty="0" err="1">
                <a:solidFill>
                  <a:srgbClr val="8D7B68"/>
                </a:solidFill>
              </a:rPr>
              <a:t>avis</a:t>
            </a:r>
            <a:r>
              <a:rPr lang="en-CA" sz="900" dirty="0">
                <a:solidFill>
                  <a:srgbClr val="8D7B68"/>
                </a:solidFill>
              </a:rPr>
              <a:t>                                  les </a:t>
            </a:r>
            <a:r>
              <a:rPr lang="en-CA" sz="900" dirty="0" err="1">
                <a:solidFill>
                  <a:srgbClr val="8D7B68"/>
                </a:solidFill>
              </a:rPr>
              <a:t>quantites</a:t>
            </a:r>
            <a:r>
              <a:rPr lang="en-CA" sz="900" dirty="0">
                <a:solidFill>
                  <a:srgbClr val="8D7B68"/>
                </a:solidFill>
              </a:rPr>
              <a:t>                                       panier vide                         temps reel  </a:t>
            </a:r>
            <a:endParaRPr lang="fr-FR" sz="900" dirty="0">
              <a:solidFill>
                <a:srgbClr val="8D7B68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160097-B925-41E8-AF4F-2B1D8B2CB368}"/>
              </a:ext>
            </a:extLst>
          </p:cNvPr>
          <p:cNvSpPr txBox="1"/>
          <p:nvPr/>
        </p:nvSpPr>
        <p:spPr>
          <a:xfrm>
            <a:off x="5348514" y="769257"/>
            <a:ext cx="98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4F9A72A-9EF2-41DB-ACEA-E575FF7F4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533" y="1744459"/>
            <a:ext cx="581106" cy="55252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17556E7-5D99-4832-BC5E-CBD3CE8EF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566" y="1744459"/>
            <a:ext cx="685896" cy="52394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D773083-F09E-4ACB-A345-0A728856C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7707" y="1792543"/>
            <a:ext cx="647790" cy="48584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5969979-3943-43B9-87F8-3E3D6BD137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254" y="1766236"/>
            <a:ext cx="590632" cy="58110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F9E9CC1-7ECD-4FC4-B880-77AB7BCECE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5887" y="1758748"/>
            <a:ext cx="647790" cy="52394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76F0C14-619D-469E-B82C-348A81DFF6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922" y="1734933"/>
            <a:ext cx="676369" cy="53347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8B636-06EB-4770-B190-C681692BFAED}"/>
              </a:ext>
            </a:extLst>
          </p:cNvPr>
          <p:cNvSpPr/>
          <p:nvPr/>
        </p:nvSpPr>
        <p:spPr>
          <a:xfrm>
            <a:off x="8512629" y="137886"/>
            <a:ext cx="631371" cy="5080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0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414B89-E98F-47F8-A9FA-0196E281311E}"/>
              </a:ext>
            </a:extLst>
          </p:cNvPr>
          <p:cNvSpPr/>
          <p:nvPr/>
        </p:nvSpPr>
        <p:spPr>
          <a:xfrm>
            <a:off x="8512629" y="137886"/>
            <a:ext cx="631371" cy="5080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947ED-ADAB-4B31-9880-26B7AF8C4CC4}"/>
              </a:ext>
            </a:extLst>
          </p:cNvPr>
          <p:cNvSpPr/>
          <p:nvPr/>
        </p:nvSpPr>
        <p:spPr>
          <a:xfrm>
            <a:off x="6500284" y="3759200"/>
            <a:ext cx="99483" cy="86783"/>
          </a:xfrm>
          <a:prstGeom prst="rect">
            <a:avLst/>
          </a:prstGeom>
          <a:solidFill>
            <a:srgbClr val="F7E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C39431-E941-4FFF-9743-E734F05512C8}"/>
              </a:ext>
            </a:extLst>
          </p:cNvPr>
          <p:cNvSpPr/>
          <p:nvPr/>
        </p:nvSpPr>
        <p:spPr>
          <a:xfrm>
            <a:off x="6500284" y="4305300"/>
            <a:ext cx="99483" cy="86783"/>
          </a:xfrm>
          <a:prstGeom prst="rect">
            <a:avLst/>
          </a:prstGeom>
          <a:solidFill>
            <a:srgbClr val="EDE0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4E121ED-25E5-42F2-BC6C-C6DB401D9023}"/>
              </a:ext>
            </a:extLst>
          </p:cNvPr>
          <p:cNvSpPr txBox="1"/>
          <p:nvPr/>
        </p:nvSpPr>
        <p:spPr>
          <a:xfrm>
            <a:off x="6409268" y="3694869"/>
            <a:ext cx="431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00" dirty="0">
                <a:solidFill>
                  <a:srgbClr val="968979"/>
                </a:solidFill>
              </a:rPr>
              <a:t>10</a:t>
            </a:r>
            <a:endParaRPr lang="fr-FR" sz="800" dirty="0">
              <a:solidFill>
                <a:srgbClr val="968979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9437AAE-D60D-4794-B8AC-9EDB23941196}"/>
              </a:ext>
            </a:extLst>
          </p:cNvPr>
          <p:cNvSpPr txBox="1"/>
          <p:nvPr/>
        </p:nvSpPr>
        <p:spPr>
          <a:xfrm>
            <a:off x="6383867" y="4240969"/>
            <a:ext cx="431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800" dirty="0">
                <a:solidFill>
                  <a:srgbClr val="968979"/>
                </a:solidFill>
              </a:rPr>
              <a:t>10</a:t>
            </a:r>
            <a:endParaRPr lang="fr-FR" sz="800" dirty="0">
              <a:solidFill>
                <a:srgbClr val="96897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0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2BF13D-F888-4D46-BB8E-4114CCB0A71E}"/>
              </a:ext>
            </a:extLst>
          </p:cNvPr>
          <p:cNvSpPr/>
          <p:nvPr/>
        </p:nvSpPr>
        <p:spPr>
          <a:xfrm>
            <a:off x="442686" y="994229"/>
            <a:ext cx="3316514" cy="3926114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802C9D3-E662-41CF-8E0A-D33D1B442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1" y="1214189"/>
            <a:ext cx="3352299" cy="34861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213B23-4D3F-4602-82D7-3844F8028925}"/>
              </a:ext>
            </a:extLst>
          </p:cNvPr>
          <p:cNvSpPr/>
          <p:nvPr/>
        </p:nvSpPr>
        <p:spPr>
          <a:xfrm>
            <a:off x="8512629" y="137886"/>
            <a:ext cx="631371" cy="5080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0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8F01096-B0A3-4140-AFF5-8767FDCAB95C}"/>
              </a:ext>
            </a:extLst>
          </p:cNvPr>
          <p:cNvSpPr/>
          <p:nvPr/>
        </p:nvSpPr>
        <p:spPr>
          <a:xfrm>
            <a:off x="4702628" y="1284513"/>
            <a:ext cx="4274458" cy="3650344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172624-9700-477D-9E59-526F381E0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036" y="1356684"/>
            <a:ext cx="2205966" cy="3506002"/>
          </a:xfrm>
          <a:prstGeom prst="roundRect">
            <a:avLst>
              <a:gd name="adj" fmla="val 9429"/>
            </a:avLst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1FFF1AA7-04B3-42CB-AD2E-13503DE5F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746" y="1371597"/>
            <a:ext cx="2140189" cy="3491089"/>
          </a:xfrm>
          <a:prstGeom prst="roundRect">
            <a:avLst>
              <a:gd name="adj" fmla="val 8114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6E9B56-9A20-4A41-93A5-674351E8277C}"/>
              </a:ext>
            </a:extLst>
          </p:cNvPr>
          <p:cNvSpPr/>
          <p:nvPr/>
        </p:nvSpPr>
        <p:spPr>
          <a:xfrm>
            <a:off x="8512629" y="137886"/>
            <a:ext cx="631371" cy="5080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0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98F0AD-312D-4E94-8FB8-A76B7E09A4F6}"/>
              </a:ext>
            </a:extLst>
          </p:cNvPr>
          <p:cNvSpPr/>
          <p:nvPr/>
        </p:nvSpPr>
        <p:spPr>
          <a:xfrm>
            <a:off x="4934857" y="1284514"/>
            <a:ext cx="3911600" cy="3585029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A6EF934-E9EF-466F-B9FA-FC72EAA3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363" y="2759498"/>
            <a:ext cx="3170011" cy="1931279"/>
          </a:xfrm>
          <a:prstGeom prst="roundRect">
            <a:avLst>
              <a:gd name="adj" fmla="val 17982"/>
            </a:avLst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F91F631-F57A-465F-BBA2-7AE7C7E4D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364" y="758231"/>
            <a:ext cx="3170011" cy="2354357"/>
          </a:xfrm>
          <a:prstGeom prst="roundRect">
            <a:avLst>
              <a:gd name="adj" fmla="val 12783"/>
            </a:avLst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E6FEC48-7188-4E34-BF9F-967F85A6D687}"/>
              </a:ext>
            </a:extLst>
          </p:cNvPr>
          <p:cNvSpPr/>
          <p:nvPr/>
        </p:nvSpPr>
        <p:spPr>
          <a:xfrm>
            <a:off x="5575364" y="2779183"/>
            <a:ext cx="52853" cy="2984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3DCC49D-4BC4-41D2-8DEE-0D99E21C8EB4}"/>
              </a:ext>
            </a:extLst>
          </p:cNvPr>
          <p:cNvSpPr/>
          <p:nvPr/>
        </p:nvSpPr>
        <p:spPr>
          <a:xfrm>
            <a:off x="8692521" y="2814138"/>
            <a:ext cx="52853" cy="29845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21AF6E-C136-48FC-B7B2-3C2D194B2E86}"/>
              </a:ext>
            </a:extLst>
          </p:cNvPr>
          <p:cNvSpPr/>
          <p:nvPr/>
        </p:nvSpPr>
        <p:spPr>
          <a:xfrm>
            <a:off x="8512629" y="137886"/>
            <a:ext cx="631371" cy="508000"/>
          </a:xfrm>
          <a:prstGeom prst="rect">
            <a:avLst/>
          </a:prstGeom>
          <a:solidFill>
            <a:srgbClr val="FF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C692B8B4-D92F-4FC1-A777-70197279D321}"/>
              </a:ext>
            </a:extLst>
          </p:cNvPr>
          <p:cNvSpPr/>
          <p:nvPr/>
        </p:nvSpPr>
        <p:spPr>
          <a:xfrm>
            <a:off x="365760" y="164592"/>
            <a:ext cx="871292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000" dirty="0">
                <a:solidFill>
                  <a:srgbClr val="381C0E"/>
                </a:solidFill>
                <a:latin typeface="Georgia" panose="02040502050405020303" pitchFamily="18" charset="0"/>
              </a:rPr>
              <a:t>Démonstration en direct</a:t>
            </a:r>
            <a:endParaRPr lang="en-US" sz="3800" dirty="0">
              <a:solidFill>
                <a:srgbClr val="381C0E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CA158BEB-C0D8-4B8D-8E72-6FBC5322425A}"/>
              </a:ext>
            </a:extLst>
          </p:cNvPr>
          <p:cNvSpPr/>
          <p:nvPr/>
        </p:nvSpPr>
        <p:spPr>
          <a:xfrm flipV="1">
            <a:off x="365759" y="822960"/>
            <a:ext cx="824411" cy="59434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026DF3-433E-47B7-97FE-E0444A80BED5}"/>
              </a:ext>
            </a:extLst>
          </p:cNvPr>
          <p:cNvSpPr/>
          <p:nvPr/>
        </p:nvSpPr>
        <p:spPr>
          <a:xfrm>
            <a:off x="449943" y="1690917"/>
            <a:ext cx="7982857" cy="2177143"/>
          </a:xfrm>
          <a:prstGeom prst="rect">
            <a:avLst/>
          </a:prstGeom>
          <a:solidFill>
            <a:srgbClr val="EDE0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CE77D9-973C-4984-953C-9481AB58D99A}"/>
              </a:ext>
            </a:extLst>
          </p:cNvPr>
          <p:cNvSpPr/>
          <p:nvPr/>
        </p:nvSpPr>
        <p:spPr>
          <a:xfrm>
            <a:off x="449943" y="1690917"/>
            <a:ext cx="123371" cy="2177143"/>
          </a:xfrm>
          <a:prstGeom prst="rect">
            <a:avLst/>
          </a:prstGeom>
          <a:solidFill>
            <a:srgbClr val="B09F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DBE2FAE-D9FF-4521-A839-64C4ABF25B7C}"/>
              </a:ext>
            </a:extLst>
          </p:cNvPr>
          <p:cNvSpPr txBox="1"/>
          <p:nvPr/>
        </p:nvSpPr>
        <p:spPr>
          <a:xfrm>
            <a:off x="711200" y="1785260"/>
            <a:ext cx="78594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8D7B68"/>
                </a:solidFill>
                <a:latin typeface="+mj-lt"/>
              </a:rPr>
              <a:t>Avant de lancer le projet, nous devons d’abord exécuter la base de données SQL :</a:t>
            </a:r>
          </a:p>
          <a:p>
            <a:r>
              <a:rPr lang="fr-FR" sz="1400" dirty="0">
                <a:solidFill>
                  <a:srgbClr val="8D7B68"/>
                </a:solidFill>
                <a:latin typeface="+mj-lt"/>
              </a:rPr>
              <a:t>Ensuite, nous ouvrons un terminal, accédons au dossier du backend et lançons l’application Spring Boot :</a:t>
            </a:r>
          </a:p>
          <a:p>
            <a:r>
              <a:rPr lang="en-US" sz="1400" dirty="0">
                <a:solidFill>
                  <a:srgbClr val="381C0E"/>
                </a:solidFill>
                <a:latin typeface="+mj-lt"/>
              </a:rPr>
              <a:t>cd backend</a:t>
            </a:r>
          </a:p>
          <a:p>
            <a:r>
              <a:rPr lang="en-US" sz="1400" dirty="0" err="1">
                <a:solidFill>
                  <a:srgbClr val="381C0E"/>
                </a:solidFill>
                <a:latin typeface="+mj-lt"/>
              </a:rPr>
              <a:t>mvn</a:t>
            </a:r>
            <a:r>
              <a:rPr lang="en-US" sz="1400" dirty="0">
                <a:solidFill>
                  <a:srgbClr val="381C0E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rgbClr val="381C0E"/>
                </a:solidFill>
                <a:latin typeface="+mj-lt"/>
              </a:rPr>
              <a:t>spring-boot:run</a:t>
            </a:r>
            <a:endParaRPr lang="fr-FR" sz="1400" dirty="0">
              <a:solidFill>
                <a:srgbClr val="381C0E"/>
              </a:solidFill>
              <a:latin typeface="+mj-lt"/>
            </a:endParaRPr>
          </a:p>
          <a:p>
            <a:r>
              <a:rPr lang="fr-FR" sz="1400" dirty="0">
                <a:solidFill>
                  <a:srgbClr val="8D7B68"/>
                </a:solidFill>
                <a:latin typeface="+mj-lt"/>
              </a:rPr>
              <a:t>Cette application Spring Boot envoie les requêtes HTTP vers l’application </a:t>
            </a:r>
            <a:r>
              <a:rPr lang="fr-FR" sz="1400" dirty="0" err="1">
                <a:solidFill>
                  <a:srgbClr val="8D7B68"/>
                </a:solidFill>
                <a:latin typeface="+mj-lt"/>
              </a:rPr>
              <a:t>React</a:t>
            </a:r>
            <a:r>
              <a:rPr lang="fr-FR" sz="1400" dirty="0">
                <a:solidFill>
                  <a:srgbClr val="8D7B68"/>
                </a:solidFill>
                <a:latin typeface="+mj-lt"/>
              </a:rPr>
              <a:t>.</a:t>
            </a:r>
          </a:p>
          <a:p>
            <a:r>
              <a:rPr lang="fr-FR" sz="1400" dirty="0">
                <a:solidFill>
                  <a:srgbClr val="8D7B68"/>
                </a:solidFill>
                <a:latin typeface="+mj-lt"/>
              </a:rPr>
              <a:t>Enfin, nous ouvrons le dossier du frontend dans un nouveau terminal et exécutons l’application </a:t>
            </a:r>
            <a:r>
              <a:rPr lang="fr-FR" sz="1400" dirty="0" err="1">
                <a:solidFill>
                  <a:srgbClr val="8D7B68"/>
                </a:solidFill>
                <a:latin typeface="+mj-lt"/>
              </a:rPr>
              <a:t>React</a:t>
            </a:r>
            <a:r>
              <a:rPr lang="fr-FR" sz="1400" dirty="0">
                <a:solidFill>
                  <a:srgbClr val="8D7B68"/>
                </a:solidFill>
                <a:latin typeface="+mj-lt"/>
              </a:rPr>
              <a:t> afin de démarrer l’interface utilisateur :</a:t>
            </a:r>
          </a:p>
          <a:p>
            <a:r>
              <a:rPr lang="en-US" sz="1400" dirty="0">
                <a:solidFill>
                  <a:srgbClr val="381C0E"/>
                </a:solidFill>
                <a:latin typeface="+mj-lt"/>
              </a:rPr>
              <a:t>cd frontend</a:t>
            </a:r>
          </a:p>
          <a:p>
            <a:r>
              <a:rPr lang="en-US" sz="1400" dirty="0" err="1">
                <a:solidFill>
                  <a:srgbClr val="381C0E"/>
                </a:solidFill>
                <a:latin typeface="+mj-lt"/>
              </a:rPr>
              <a:t>npm</a:t>
            </a:r>
            <a:r>
              <a:rPr lang="en-US" sz="1400" dirty="0">
                <a:solidFill>
                  <a:srgbClr val="381C0E"/>
                </a:solidFill>
                <a:latin typeface="+mj-lt"/>
              </a:rPr>
              <a:t> start</a:t>
            </a:r>
            <a:endParaRPr lang="fr-FR" sz="1400" dirty="0">
              <a:solidFill>
                <a:srgbClr val="381C0E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121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slide-1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331590B0-4DDF-4D0C-809D-84EC9CEA81D8}"/>
              </a:ext>
            </a:extLst>
          </p:cNvPr>
          <p:cNvSpPr/>
          <p:nvPr/>
        </p:nvSpPr>
        <p:spPr>
          <a:xfrm>
            <a:off x="8359917" y="1988457"/>
            <a:ext cx="718457" cy="1016000"/>
          </a:xfrm>
          <a:prstGeom prst="ellipse">
            <a:avLst/>
          </a:prstGeom>
          <a:solidFill>
            <a:srgbClr val="381C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08C31B2-651F-4CE0-A647-3E86FFAA56A6}"/>
              </a:ext>
            </a:extLst>
          </p:cNvPr>
          <p:cNvSpPr/>
          <p:nvPr/>
        </p:nvSpPr>
        <p:spPr>
          <a:xfrm>
            <a:off x="8557185" y="3004458"/>
            <a:ext cx="323919" cy="615042"/>
          </a:xfrm>
          <a:prstGeom prst="ellipse">
            <a:avLst/>
          </a:prstGeom>
          <a:solidFill>
            <a:srgbClr val="2C1A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C696074-5E13-4B7A-B235-33AD5F10BE98}"/>
              </a:ext>
            </a:extLst>
          </p:cNvPr>
          <p:cNvSpPr txBox="1"/>
          <p:nvPr/>
        </p:nvSpPr>
        <p:spPr>
          <a:xfrm rot="5400000">
            <a:off x="8471347" y="3029450"/>
            <a:ext cx="949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900" dirty="0">
                <a:solidFill>
                  <a:srgbClr val="F7EFE2"/>
                </a:solidFill>
              </a:rPr>
              <a:t>2025 - 2026</a:t>
            </a:r>
            <a:endParaRPr lang="fr-FR" sz="900" dirty="0">
              <a:solidFill>
                <a:srgbClr val="F7EFE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157</Words>
  <Application>Microsoft Office PowerPoint</Application>
  <PresentationFormat>Affichage à l'écran (16:9)</PresentationFormat>
  <Paragraphs>29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 MEHDAOUI</cp:lastModifiedBy>
  <cp:revision>8</cp:revision>
  <dcterms:created xsi:type="dcterms:W3CDTF">2026-05-10T19:01:43Z</dcterms:created>
  <dcterms:modified xsi:type="dcterms:W3CDTF">2026-05-17T21:40:13Z</dcterms:modified>
</cp:coreProperties>
</file>